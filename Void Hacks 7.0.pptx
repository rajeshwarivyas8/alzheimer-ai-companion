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2fp4nBhLrAst9vDFGN8F-9YIFJkuC6bN/view?usp=drive_link" TargetMode="External"/><Relationship Id="rId2" Type="http://schemas.openxmlformats.org/officeDocument/2006/relationships/hyperlink" Target="https://drive.google.com/file/d/1HGEMBqGRiz3Oe1i1K6wKETorkYlcR2Ul/view?usp=drive_link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drive.google.com/file/d/1RdOxdOdNYH9WVageOPbky-uE0M6aAROW/view?usp=drive_link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289967"/>
            <a:ext cx="10327882" cy="457582"/>
          </a:xfrm>
        </p:spPr>
        <p:txBody>
          <a:bodyPr/>
          <a:lstStyle/>
          <a:p>
            <a:pPr algn="ctr"/>
            <a:r>
              <a:rPr lang="en-US" sz="2800" dirty="0">
                <a:latin typeface="Aptos" panose="020B0004020202020204" pitchFamily="34" charset="0"/>
                <a:cs typeface="Times New Roman" panose="02020603050405020304" pitchFamily="18" charset="0"/>
              </a:rPr>
              <a:t>SHRI VAISHNAV VIDYAPEETH VISHWAVIDYALAYA</a:t>
            </a:r>
            <a:endParaRPr lang="en-IN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0472" y="1747549"/>
            <a:ext cx="7766936" cy="1096899"/>
          </a:xfrm>
        </p:spPr>
        <p:txBody>
          <a:bodyPr/>
          <a:lstStyle/>
          <a:p>
            <a:pPr algn="ctr"/>
            <a:r>
              <a:rPr lang="en-US" sz="1800" dirty="0">
                <a:latin typeface="Aptos" panose="020B0004020202020204" pitchFamily="34" charset="0"/>
                <a:cs typeface="Times New Roman" panose="02020603050405020304" pitchFamily="18" charset="0"/>
              </a:rPr>
              <a:t>SHRI VAISHNAV INSTITUTE OF INFORMATION TECHNOLOGY, INDORE</a:t>
            </a:r>
            <a:endParaRPr lang="en-IN" sz="18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87F085-1A74-B8BE-B992-F41AD8BD61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204" y="101247"/>
            <a:ext cx="1087473" cy="108747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C451366-6D04-F0DF-C1B5-7643029FDD31}"/>
              </a:ext>
            </a:extLst>
          </p:cNvPr>
          <p:cNvGrpSpPr/>
          <p:nvPr/>
        </p:nvGrpSpPr>
        <p:grpSpPr>
          <a:xfrm>
            <a:off x="3816213" y="2844448"/>
            <a:ext cx="2695453" cy="1562870"/>
            <a:chOff x="4356127" y="3173534"/>
            <a:chExt cx="3479744" cy="236553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CF37A87-171A-1B22-A7C6-DCFA84944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2556" y="3173534"/>
              <a:ext cx="2600639" cy="175993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70B340F-B769-906C-3DC5-E1776FDFFBA1}"/>
                </a:ext>
              </a:extLst>
            </p:cNvPr>
            <p:cNvSpPr txBox="1"/>
            <p:nvPr/>
          </p:nvSpPr>
          <p:spPr>
            <a:xfrm>
              <a:off x="4356127" y="4933467"/>
              <a:ext cx="3479744" cy="6055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Aptos" panose="020B0004020202020204" pitchFamily="34" charset="0"/>
                  <a:cs typeface="Times New Roman" panose="02020603050405020304" pitchFamily="18" charset="0"/>
                </a:rPr>
                <a:t>  VOID HACKS ( ) 7.0</a:t>
              </a:r>
              <a:endParaRPr lang="en-IN" sz="2000" b="1" dirty="0">
                <a:latin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Rectangle 7"/>
          <p:cNvSpPr/>
          <p:nvPr/>
        </p:nvSpPr>
        <p:spPr>
          <a:xfrm>
            <a:off x="1280472" y="4431304"/>
            <a:ext cx="827961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Round 1: Idea Submission Round</a:t>
            </a:r>
          </a:p>
          <a:p>
            <a:r>
              <a:rPr lang="en-US" dirty="0">
                <a:latin typeface="Aptos" panose="020B0004020202020204" pitchFamily="34" charset="0"/>
              </a:rPr>
              <a:t>Welcome to the Idea Submission Round of Void Hacks 7.0! Choose one Problem Statement, craft an innovative idea, create a captivating PowerPoint presentation, and submit it by the deadline. Win recognition and prizes for your creativity and vision! Good luck! </a:t>
            </a:r>
            <a:endParaRPr lang="en-IN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607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b="1" dirty="0">
                <a:latin typeface="Aptos" panose="020B0004020202020204" pitchFamily="34" charset="0"/>
              </a:rPr>
              <a:t>We welcome you all to the shortlisting round.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838131"/>
            <a:ext cx="8596668" cy="4203231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Aptos" panose="020B0004020202020204" pitchFamily="34" charset="0"/>
              </a:rPr>
              <a:t>Three problem statements are provided via a Google Drive link. Each team must choose and solve any one of them. The solution should be presented in a PPT, including your complete approach, implementation details or code snippets, and screenshots of the working solution. Additionally, mention the use case and the technology stack used in your project.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Aptos" panose="020B0004020202020204" pitchFamily="34" charset="0"/>
              </a:rPr>
              <a:t>Problem statements for respective domains:-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Aptos" panose="020B0004020202020204" pitchFamily="34" charset="0"/>
              </a:rPr>
              <a:t>AI/ML : </a:t>
            </a:r>
            <a:r>
              <a:rPr lang="en-US" dirty="0">
                <a:latin typeface="Aptos" panose="020B0004020202020204" pitchFamily="34" charset="0"/>
                <a:hlinkClick r:id="rId2"/>
              </a:rPr>
              <a:t>Link</a:t>
            </a:r>
            <a:endParaRPr lang="en-US" dirty="0">
              <a:latin typeface="Aptos" panose="020B00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IN" dirty="0">
                <a:latin typeface="Aptos" panose="020B0004020202020204" pitchFamily="34" charset="0"/>
              </a:rPr>
              <a:t>Mobile/Web Development: </a:t>
            </a:r>
            <a:r>
              <a:rPr lang="en-IN" dirty="0">
                <a:latin typeface="Aptos" panose="020B0004020202020204" pitchFamily="34" charset="0"/>
                <a:hlinkClick r:id="rId3"/>
              </a:rPr>
              <a:t>Link</a:t>
            </a:r>
            <a:endParaRPr lang="en-IN" dirty="0">
              <a:latin typeface="Aptos" panose="020B00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IN" dirty="0">
                <a:latin typeface="Aptos" panose="020B0004020202020204" pitchFamily="34" charset="0"/>
              </a:rPr>
              <a:t>FinTech: </a:t>
            </a:r>
            <a:r>
              <a:rPr lang="en-IN" dirty="0">
                <a:latin typeface="Aptos" panose="020B0004020202020204" pitchFamily="34" charset="0"/>
                <a:hlinkClick r:id="rId4"/>
              </a:rPr>
              <a:t>Link</a:t>
            </a:r>
            <a:endParaRPr lang="en-IN" dirty="0">
              <a:latin typeface="Aptos" panose="020B00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C451366-6D04-F0DF-C1B5-7643029FDD31}"/>
              </a:ext>
            </a:extLst>
          </p:cNvPr>
          <p:cNvGrpSpPr/>
          <p:nvPr/>
        </p:nvGrpSpPr>
        <p:grpSpPr>
          <a:xfrm>
            <a:off x="10324845" y="609600"/>
            <a:ext cx="2344038" cy="2010995"/>
            <a:chOff x="4652556" y="3173534"/>
            <a:chExt cx="4340511" cy="453753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CF37A87-171A-1B22-A7C6-DCFA84944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2556" y="3173534"/>
              <a:ext cx="2600639" cy="175993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70B340F-B769-906C-3DC5-E1776FDFFBA1}"/>
                </a:ext>
              </a:extLst>
            </p:cNvPr>
            <p:cNvSpPr txBox="1"/>
            <p:nvPr/>
          </p:nvSpPr>
          <p:spPr>
            <a:xfrm>
              <a:off x="5513322" y="6808279"/>
              <a:ext cx="3479745" cy="9027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IN" sz="2000" b="1" dirty="0">
                <a:latin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5597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Team name: </a:t>
            </a:r>
            <a:r>
              <a:rPr lang="en-IN" sz="3200" b="1" dirty="0"/>
              <a:t>Four4kind</a:t>
            </a:r>
            <a:r>
              <a:rPr lang="en-US" sz="3200" b="1" dirty="0">
                <a:latin typeface="Aptos" panose="020B0004020202020204" pitchFamily="34" charset="0"/>
              </a:rPr>
              <a:t> 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latin typeface="Aptos" panose="020B0004020202020204" pitchFamily="34" charset="0"/>
            </a:endParaRPr>
          </a:p>
          <a:p>
            <a:endParaRPr lang="en-IN" dirty="0">
              <a:latin typeface="Aptos" panose="020B00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C451366-6D04-F0DF-C1B5-7643029FDD31}"/>
              </a:ext>
            </a:extLst>
          </p:cNvPr>
          <p:cNvGrpSpPr/>
          <p:nvPr/>
        </p:nvGrpSpPr>
        <p:grpSpPr>
          <a:xfrm>
            <a:off x="10324845" y="609600"/>
            <a:ext cx="2344038" cy="2010995"/>
            <a:chOff x="4652556" y="3173534"/>
            <a:chExt cx="4340511" cy="453753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CF37A87-171A-1B22-A7C6-DCFA84944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2556" y="3173534"/>
              <a:ext cx="2600639" cy="175993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70B340F-B769-906C-3DC5-E1776FDFFBA1}"/>
                </a:ext>
              </a:extLst>
            </p:cNvPr>
            <p:cNvSpPr txBox="1"/>
            <p:nvPr/>
          </p:nvSpPr>
          <p:spPr>
            <a:xfrm>
              <a:off x="5513322" y="6808279"/>
              <a:ext cx="3479745" cy="9027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IN" sz="2000" b="1" dirty="0">
                <a:latin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B45736C-BCB4-6CE8-4E9B-5F00804EE7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803288"/>
              </p:ext>
            </p:extLst>
          </p:nvPr>
        </p:nvGraphicFramePr>
        <p:xfrm>
          <a:off x="201837" y="1551032"/>
          <a:ext cx="10888826" cy="2915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587">
                  <a:extLst>
                    <a:ext uri="{9D8B030D-6E8A-4147-A177-3AD203B41FA5}">
                      <a16:colId xmlns:a16="http://schemas.microsoft.com/office/drawing/2014/main" val="252119191"/>
                    </a:ext>
                  </a:extLst>
                </a:gridCol>
                <a:gridCol w="1931437">
                  <a:extLst>
                    <a:ext uri="{9D8B030D-6E8A-4147-A177-3AD203B41FA5}">
                      <a16:colId xmlns:a16="http://schemas.microsoft.com/office/drawing/2014/main" val="1122895551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155434358"/>
                    </a:ext>
                  </a:extLst>
                </a:gridCol>
                <a:gridCol w="5016434">
                  <a:extLst>
                    <a:ext uri="{9D8B030D-6E8A-4147-A177-3AD203B41FA5}">
                      <a16:colId xmlns:a16="http://schemas.microsoft.com/office/drawing/2014/main" val="3667813875"/>
                    </a:ext>
                  </a:extLst>
                </a:gridCol>
              </a:tblGrid>
              <a:tr h="402772">
                <a:tc>
                  <a:txBody>
                    <a:bodyPr/>
                    <a:lstStyle/>
                    <a:p>
                      <a:r>
                        <a:rPr lang="en-IN" sz="1500" dirty="0"/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Email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LinkedIn Link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995176"/>
                  </a:ext>
                </a:extLst>
              </a:tr>
              <a:tr h="537469">
                <a:tc>
                  <a:txBody>
                    <a:bodyPr/>
                    <a:lstStyle/>
                    <a:p>
                      <a:r>
                        <a:rPr lang="en-IN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Rajeshwari Vyas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rajeshwarivyas317@gmail.com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https://www.linkedin.com/in/rajeshwarivyas/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73627"/>
                  </a:ext>
                </a:extLst>
              </a:tr>
              <a:tr h="615821">
                <a:tc>
                  <a:txBody>
                    <a:bodyPr/>
                    <a:lstStyle/>
                    <a:p>
                      <a:r>
                        <a:rPr lang="en-IN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Sakshi Malviya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malviyasakshi04@gmail.com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https://www.linkedin.com/in/sakshi-malviya-853939255/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852335"/>
                  </a:ext>
                </a:extLst>
              </a:tr>
              <a:tr h="563569">
                <a:tc>
                  <a:txBody>
                    <a:bodyPr/>
                    <a:lstStyle/>
                    <a:p>
                      <a:r>
                        <a:rPr lang="en-IN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Nishika Jain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nishikajain840@gmail.com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https://www.linkedin.com/in/nishikajain2207/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101918"/>
                  </a:ext>
                </a:extLst>
              </a:tr>
              <a:tr h="695195">
                <a:tc>
                  <a:txBody>
                    <a:bodyPr/>
                    <a:lstStyle/>
                    <a:p>
                      <a:r>
                        <a:rPr lang="en-IN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Ankul</a:t>
                      </a:r>
                      <a:r>
                        <a:rPr lang="en-US" dirty="0"/>
                        <a:t> Singh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ankulsinghak47@gmail.com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https://www.linkedin.com/in/ankul-s-71268a229/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86211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E73F12F-C479-F7E9-3BD1-49F3AB971D81}"/>
              </a:ext>
            </a:extLst>
          </p:cNvPr>
          <p:cNvSpPr txBox="1"/>
          <p:nvPr/>
        </p:nvSpPr>
        <p:spPr>
          <a:xfrm>
            <a:off x="520302" y="4706793"/>
            <a:ext cx="698151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ptos" panose="020B0004020202020204" pitchFamily="34" charset="0"/>
              </a:rPr>
              <a:t>Team Leader Name</a:t>
            </a:r>
            <a:r>
              <a:rPr lang="en-IN" sz="2000" b="1" dirty="0">
                <a:latin typeface="Aptos" panose="020B0004020202020204" pitchFamily="34" charset="0"/>
              </a:rPr>
              <a:t>: </a:t>
            </a:r>
            <a:r>
              <a:rPr lang="en-IN" sz="2000" b="1" dirty="0">
                <a:solidFill>
                  <a:srgbClr val="FFFF00"/>
                </a:solidFill>
                <a:latin typeface="Aptos" panose="020B0004020202020204" pitchFamily="34" charset="0"/>
              </a:rPr>
              <a:t>Rajeshwari Vyas</a:t>
            </a:r>
          </a:p>
          <a:p>
            <a:r>
              <a:rPr lang="en-IN" dirty="0">
                <a:latin typeface="Aptos" panose="020B0004020202020204" pitchFamily="34" charset="0"/>
              </a:rPr>
              <a:t>Contact No. : </a:t>
            </a:r>
            <a:r>
              <a:rPr lang="en-IN" b="1" dirty="0">
                <a:solidFill>
                  <a:srgbClr val="FFFF00"/>
                </a:solidFill>
                <a:latin typeface="Aptos" panose="020B0004020202020204" pitchFamily="34" charset="0"/>
              </a:rPr>
              <a:t>7770975743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2F2315-5120-D03B-12E9-3A214693E311}"/>
              </a:ext>
            </a:extLst>
          </p:cNvPr>
          <p:cNvSpPr txBox="1"/>
          <p:nvPr/>
        </p:nvSpPr>
        <p:spPr>
          <a:xfrm>
            <a:off x="520302" y="5395031"/>
            <a:ext cx="8427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Aptos" panose="020B0004020202020204" pitchFamily="34" charset="0"/>
              </a:rPr>
              <a:t>*Note:-</a:t>
            </a:r>
            <a:r>
              <a:rPr lang="en-US" b="1" u="sng" dirty="0">
                <a:latin typeface="Aptos" panose="020B0004020202020204" pitchFamily="34" charset="0"/>
              </a:rPr>
              <a:t> Do not directly paste the LinkedIn link; instead, use a hyperlink.</a:t>
            </a:r>
            <a:endParaRPr lang="en-US" dirty="0">
              <a:latin typeface="Aptos" panose="020B0004020202020204" pitchFamily="34" charset="0"/>
            </a:endParaRPr>
          </a:p>
          <a:p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2081457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Solution &amp; Innovation: </a:t>
            </a:r>
            <a:endParaRPr lang="en-IN" dirty="0">
              <a:latin typeface="Aptos" panose="020B00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>
                <a:latin typeface="Aptos" panose="020B0004020202020204" pitchFamily="34" charset="0"/>
              </a:rPr>
              <a:t>Problem Statement Domain </a:t>
            </a:r>
            <a:r>
              <a:rPr lang="en-US" dirty="0">
                <a:latin typeface="Aptos" panose="020B0004020202020204" pitchFamily="34" charset="0"/>
              </a:rPr>
              <a:t>: </a:t>
            </a:r>
            <a:r>
              <a:rPr lang="en-US" dirty="0">
                <a:solidFill>
                  <a:srgbClr val="FFFF00"/>
                </a:solidFill>
              </a:rPr>
              <a:t>Alzheimer’s early detection and monitoring using AI/ML, especially in rural and low-resource settings</a:t>
            </a:r>
            <a:r>
              <a:rPr lang="en-US" dirty="0"/>
              <a:t>.</a:t>
            </a:r>
            <a:r>
              <a:rPr lang="en-US" dirty="0">
                <a:latin typeface="Aptos" panose="020B0004020202020204" pitchFamily="34" charset="0"/>
              </a:rPr>
              <a:t>  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sz="2000" b="1" dirty="0">
                <a:latin typeface="Aptos" panose="020B0004020202020204" pitchFamily="34" charset="0"/>
              </a:rPr>
              <a:t>Solution</a:t>
            </a:r>
            <a:r>
              <a:rPr lang="en-US" dirty="0">
                <a:latin typeface="Aptos" panose="020B0004020202020204" pitchFamily="34" charset="0"/>
              </a:rPr>
              <a:t>: </a:t>
            </a:r>
            <a:r>
              <a:rPr lang="en-US" b="1" dirty="0">
                <a:solidFill>
                  <a:srgbClr val="FFFF00"/>
                </a:solidFill>
              </a:rPr>
              <a:t>AI Companion for Daily Monitoring &amp; Early Detection</a:t>
            </a:r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Multi-modal: speech + cognitive mini-tests + optional smartphone behavior.</a:t>
            </a:r>
          </a:p>
          <a:p>
            <a:r>
              <a:rPr lang="en-US" dirty="0">
                <a:solidFill>
                  <a:srgbClr val="FFFF00"/>
                </a:solidFill>
              </a:rPr>
              <a:t>Continuous, low-cost, and offline-capable monitoring.</a:t>
            </a:r>
          </a:p>
          <a:p>
            <a:r>
              <a:rPr lang="en-US" dirty="0">
                <a:solidFill>
                  <a:srgbClr val="FFFF00"/>
                </a:solidFill>
              </a:rPr>
              <a:t>Provides explainable AI insights to doctors and caregivers</a:t>
            </a:r>
            <a:r>
              <a:rPr lang="en-US" dirty="0"/>
              <a:t>.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sz="2000" b="1" dirty="0" err="1">
                <a:latin typeface="Aptos" panose="020B0004020202020204" pitchFamily="34" charset="0"/>
              </a:rPr>
              <a:t>Github</a:t>
            </a:r>
            <a:r>
              <a:rPr lang="en-US" sz="2000" b="1" dirty="0">
                <a:latin typeface="Aptos" panose="020B0004020202020204" pitchFamily="34" charset="0"/>
              </a:rPr>
              <a:t> Link</a:t>
            </a:r>
            <a:r>
              <a:rPr lang="en-US" dirty="0">
                <a:latin typeface="Aptos" panose="020B0004020202020204" pitchFamily="34" charset="0"/>
              </a:rPr>
              <a:t>:</a:t>
            </a:r>
            <a:endParaRPr lang="en-IN" dirty="0">
              <a:latin typeface="Aptos" panose="020B00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C451366-6D04-F0DF-C1B5-7643029FDD31}"/>
              </a:ext>
            </a:extLst>
          </p:cNvPr>
          <p:cNvGrpSpPr/>
          <p:nvPr/>
        </p:nvGrpSpPr>
        <p:grpSpPr>
          <a:xfrm>
            <a:off x="10324845" y="609600"/>
            <a:ext cx="2344038" cy="2010995"/>
            <a:chOff x="4652556" y="3173534"/>
            <a:chExt cx="4340511" cy="453753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CF37A87-171A-1B22-A7C6-DCFA84944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2556" y="3173534"/>
              <a:ext cx="2600639" cy="175993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70B340F-B769-906C-3DC5-E1776FDFFBA1}"/>
                </a:ext>
              </a:extLst>
            </p:cNvPr>
            <p:cNvSpPr txBox="1"/>
            <p:nvPr/>
          </p:nvSpPr>
          <p:spPr>
            <a:xfrm>
              <a:off x="5513322" y="6808279"/>
              <a:ext cx="3479745" cy="9027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IN" sz="2000" b="1" dirty="0">
                <a:latin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9581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Solution Use Cases: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539551"/>
            <a:ext cx="9250438" cy="4708849"/>
          </a:xfrm>
        </p:spPr>
        <p:txBody>
          <a:bodyPr>
            <a:normAutofit fontScale="85000" lnSpcReduction="20000"/>
          </a:bodyPr>
          <a:lstStyle/>
          <a:p>
            <a:r>
              <a:rPr lang="en-IN" sz="2200" b="1" dirty="0"/>
              <a:t>Scenario</a:t>
            </a:r>
            <a:r>
              <a:rPr lang="en-IN" b="1" dirty="0"/>
              <a:t>:</a:t>
            </a:r>
            <a:br>
              <a:rPr lang="en-IN" dirty="0"/>
            </a:br>
            <a:r>
              <a:rPr lang="en-IN" sz="2100" dirty="0">
                <a:solidFill>
                  <a:srgbClr val="FFFF00"/>
                </a:solidFill>
              </a:rPr>
              <a:t>Rural healthcare clinic with limited diagnostic tools.</a:t>
            </a:r>
          </a:p>
          <a:p>
            <a:r>
              <a:rPr lang="en-IN" sz="2200" b="1" dirty="0"/>
              <a:t>Actors:</a:t>
            </a:r>
            <a:br>
              <a:rPr lang="en-IN" dirty="0"/>
            </a:br>
            <a:r>
              <a:rPr lang="en-IN" sz="2100" dirty="0">
                <a:solidFill>
                  <a:srgbClr val="FFFF00"/>
                </a:solidFill>
              </a:rPr>
              <a:t>Patient, Caregiver, Doctor</a:t>
            </a:r>
          </a:p>
          <a:p>
            <a:r>
              <a:rPr lang="en-IN" sz="2200" b="1" dirty="0"/>
              <a:t>Workflow:</a:t>
            </a:r>
          </a:p>
          <a:p>
            <a:r>
              <a:rPr lang="en-IN" sz="2100" dirty="0">
                <a:solidFill>
                  <a:srgbClr val="FFFF00"/>
                </a:solidFill>
              </a:rPr>
              <a:t>Patient speaks or completes mini cognitive tasks via companion app.</a:t>
            </a:r>
          </a:p>
          <a:p>
            <a:r>
              <a:rPr lang="en-IN" sz="2100" dirty="0">
                <a:solidFill>
                  <a:srgbClr val="FFFF00"/>
                </a:solidFill>
              </a:rPr>
              <a:t>AI </a:t>
            </a:r>
            <a:r>
              <a:rPr lang="en-IN" sz="2100" dirty="0" err="1">
                <a:solidFill>
                  <a:srgbClr val="FFFF00"/>
                </a:solidFill>
              </a:rPr>
              <a:t>analyzes</a:t>
            </a:r>
            <a:r>
              <a:rPr lang="en-IN" sz="2100" dirty="0">
                <a:solidFill>
                  <a:srgbClr val="FFFF00"/>
                </a:solidFill>
              </a:rPr>
              <a:t> speech + cognitive data → generates risk score.</a:t>
            </a:r>
          </a:p>
          <a:p>
            <a:r>
              <a:rPr lang="en-IN" sz="2100" dirty="0">
                <a:solidFill>
                  <a:srgbClr val="FFFF00"/>
                </a:solidFill>
              </a:rPr>
              <a:t>Doctor/Caregiver views trend graphs &amp; AI explanations on dashboard.</a:t>
            </a:r>
          </a:p>
          <a:p>
            <a:r>
              <a:rPr lang="en-IN" sz="2100" dirty="0">
                <a:solidFill>
                  <a:srgbClr val="FFFF00"/>
                </a:solidFill>
              </a:rPr>
              <a:t>App suggests cognitive exercises or alerts family if risk increases</a:t>
            </a:r>
            <a:r>
              <a:rPr lang="en-IN" sz="1900" dirty="0">
                <a:solidFill>
                  <a:srgbClr val="FFFF00"/>
                </a:solidFill>
              </a:rPr>
              <a:t>.</a:t>
            </a:r>
          </a:p>
          <a:p>
            <a:r>
              <a:rPr lang="en-IN" sz="2200" b="1" dirty="0"/>
              <a:t>Impact:</a:t>
            </a:r>
          </a:p>
          <a:p>
            <a:r>
              <a:rPr lang="en-IN" sz="2100" dirty="0">
                <a:solidFill>
                  <a:srgbClr val="FFFF00"/>
                </a:solidFill>
              </a:rPr>
              <a:t>Early detection in non-hospital settings.</a:t>
            </a:r>
          </a:p>
          <a:p>
            <a:r>
              <a:rPr lang="en-IN" sz="2100" dirty="0">
                <a:solidFill>
                  <a:srgbClr val="FFFF00"/>
                </a:solidFill>
              </a:rPr>
              <a:t>Continuous monitoring without expensive imaging.</a:t>
            </a:r>
          </a:p>
          <a:p>
            <a:r>
              <a:rPr lang="en-IN" sz="2100" dirty="0">
                <a:solidFill>
                  <a:srgbClr val="FFFF00"/>
                </a:solidFill>
              </a:rPr>
              <a:t>Low-cost, offline-ready, and privacy-compliant.</a:t>
            </a:r>
          </a:p>
          <a:p>
            <a:r>
              <a:rPr lang="en-IN" sz="2200" b="1" i="1" dirty="0"/>
              <a:t>Visual Suggestion:</a:t>
            </a:r>
            <a:r>
              <a:rPr lang="en-IN" sz="2200" b="1" dirty="0"/>
              <a:t> </a:t>
            </a:r>
            <a:r>
              <a:rPr lang="en-IN" sz="2100" dirty="0">
                <a:solidFill>
                  <a:srgbClr val="FFFF00"/>
                </a:solidFill>
              </a:rPr>
              <a:t>Flow diagram — </a:t>
            </a:r>
            <a:r>
              <a:rPr lang="en-IN" sz="2100" b="1" dirty="0">
                <a:solidFill>
                  <a:srgbClr val="FFFF00"/>
                </a:solidFill>
              </a:rPr>
              <a:t>Patient → App → AI → Dashboard → Action</a:t>
            </a:r>
            <a:endParaRPr lang="en-IN" sz="2100" dirty="0">
              <a:solidFill>
                <a:srgbClr val="FFFF00"/>
              </a:solidFill>
            </a:endParaRPr>
          </a:p>
          <a:p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C451366-6D04-F0DF-C1B5-7643029FDD31}"/>
              </a:ext>
            </a:extLst>
          </p:cNvPr>
          <p:cNvGrpSpPr/>
          <p:nvPr/>
        </p:nvGrpSpPr>
        <p:grpSpPr>
          <a:xfrm>
            <a:off x="10324845" y="609600"/>
            <a:ext cx="2344038" cy="2010995"/>
            <a:chOff x="4652556" y="3173534"/>
            <a:chExt cx="4340511" cy="453753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CF37A87-171A-1B22-A7C6-DCFA84944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2556" y="3173534"/>
              <a:ext cx="2600639" cy="175993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70B340F-B769-906C-3DC5-E1776FDFFBA1}"/>
                </a:ext>
              </a:extLst>
            </p:cNvPr>
            <p:cNvSpPr txBox="1"/>
            <p:nvPr/>
          </p:nvSpPr>
          <p:spPr>
            <a:xfrm>
              <a:off x="5513322" y="6808279"/>
              <a:ext cx="3479745" cy="9027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IN" sz="2000" b="1" dirty="0">
                <a:latin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5878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8596669" cy="779985"/>
          </a:xfrm>
        </p:spPr>
        <p:txBody>
          <a:bodyPr/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Technology Stack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688841"/>
            <a:ext cx="9381067" cy="4352521"/>
          </a:xfrm>
        </p:spPr>
        <p:txBody>
          <a:bodyPr>
            <a:normAutofit/>
          </a:bodyPr>
          <a:lstStyle/>
          <a:p>
            <a:r>
              <a:rPr lang="en-IN" sz="1900" dirty="0"/>
              <a:t>Frontend / Dashboard: </a:t>
            </a:r>
            <a:r>
              <a:rPr lang="en-IN" dirty="0" err="1">
                <a:solidFill>
                  <a:srgbClr val="FFFF00"/>
                </a:solidFill>
              </a:rPr>
              <a:t>Streamlit</a:t>
            </a:r>
            <a:r>
              <a:rPr lang="en-IN" dirty="0">
                <a:solidFill>
                  <a:srgbClr val="FFFF00"/>
                </a:solidFill>
              </a:rPr>
              <a:t> / Dash / </a:t>
            </a:r>
            <a:r>
              <a:rPr lang="en-IN" dirty="0" err="1">
                <a:solidFill>
                  <a:srgbClr val="FFFF00"/>
                </a:solidFill>
              </a:rPr>
              <a:t>Gradio</a:t>
            </a:r>
            <a:endParaRPr lang="en-IN" dirty="0">
              <a:solidFill>
                <a:srgbClr val="FFFF00"/>
              </a:solidFill>
            </a:endParaRPr>
          </a:p>
          <a:p>
            <a:r>
              <a:rPr lang="en-IN" sz="1900" b="1" dirty="0"/>
              <a:t>Backend / AI: </a:t>
            </a:r>
            <a:r>
              <a:rPr lang="en-IN" dirty="0">
                <a:solidFill>
                  <a:srgbClr val="FFFF00"/>
                </a:solidFill>
              </a:rPr>
              <a:t>Python, Scikit-learn, </a:t>
            </a:r>
            <a:r>
              <a:rPr lang="en-IN" dirty="0" err="1">
                <a:solidFill>
                  <a:srgbClr val="FFFF00"/>
                </a:solidFill>
              </a:rPr>
              <a:t>XGBoost</a:t>
            </a:r>
            <a:r>
              <a:rPr lang="en-IN" dirty="0">
                <a:solidFill>
                  <a:srgbClr val="FFFF00"/>
                </a:solidFill>
              </a:rPr>
              <a:t>, </a:t>
            </a:r>
            <a:r>
              <a:rPr lang="en-IN" dirty="0" err="1">
                <a:solidFill>
                  <a:srgbClr val="FFFF00"/>
                </a:solidFill>
              </a:rPr>
              <a:t>PyTorch</a:t>
            </a:r>
            <a:r>
              <a:rPr lang="en-IN" dirty="0">
                <a:solidFill>
                  <a:srgbClr val="FFFF00"/>
                </a:solidFill>
              </a:rPr>
              <a:t> (optional CNN/RNN)</a:t>
            </a:r>
          </a:p>
          <a:p>
            <a:r>
              <a:rPr lang="en-IN" sz="1900" b="1" dirty="0">
                <a:solidFill>
                  <a:schemeClr val="tx1"/>
                </a:solidFill>
              </a:rPr>
              <a:t>Data Storage</a:t>
            </a:r>
            <a:r>
              <a:rPr lang="en-IN" b="1" dirty="0">
                <a:solidFill>
                  <a:schemeClr val="tx1"/>
                </a:solidFill>
              </a:rPr>
              <a:t>:</a:t>
            </a:r>
            <a:r>
              <a:rPr lang="en-IN" dirty="0">
                <a:solidFill>
                  <a:schemeClr val="tx1"/>
                </a:solidFill>
              </a:rPr>
              <a:t> </a:t>
            </a:r>
            <a:r>
              <a:rPr lang="en-IN" dirty="0">
                <a:solidFill>
                  <a:srgbClr val="FFFF00"/>
                </a:solidFill>
              </a:rPr>
              <a:t>CSV / JSON (offline storage)</a:t>
            </a:r>
          </a:p>
          <a:p>
            <a:r>
              <a:rPr lang="en-IN" sz="1900" b="1" dirty="0"/>
              <a:t>AI Features:</a:t>
            </a:r>
          </a:p>
          <a:p>
            <a:pPr lvl="1"/>
            <a:r>
              <a:rPr lang="en-IN" dirty="0">
                <a:solidFill>
                  <a:srgbClr val="FFFF00"/>
                </a:solidFill>
              </a:rPr>
              <a:t>Speech analysis: MFCC, prosody, pauses</a:t>
            </a:r>
          </a:p>
          <a:p>
            <a:pPr lvl="1"/>
            <a:r>
              <a:rPr lang="en-IN" dirty="0">
                <a:solidFill>
                  <a:srgbClr val="FFFF00"/>
                </a:solidFill>
              </a:rPr>
              <a:t>Cognitive test scoring: Logistic Regression / Random Forest</a:t>
            </a:r>
          </a:p>
          <a:p>
            <a:pPr lvl="1"/>
            <a:r>
              <a:rPr lang="en-IN" dirty="0">
                <a:solidFill>
                  <a:srgbClr val="FFFF00"/>
                </a:solidFill>
              </a:rPr>
              <a:t>Explainable AI: SHAP / LIME for trend insights</a:t>
            </a:r>
          </a:p>
          <a:p>
            <a:r>
              <a:rPr lang="en-IN" b="1" dirty="0"/>
              <a:t>Deployment: </a:t>
            </a:r>
            <a:r>
              <a:rPr lang="en-IN" dirty="0">
                <a:solidFill>
                  <a:srgbClr val="FFFF00"/>
                </a:solidFill>
              </a:rPr>
              <a:t>Local machine / edge device (offline-ready)</a:t>
            </a:r>
          </a:p>
          <a:p>
            <a:r>
              <a:rPr lang="en-IN" b="1" dirty="0"/>
              <a:t>Version Control: </a:t>
            </a:r>
            <a:r>
              <a:rPr lang="en-IN" dirty="0">
                <a:solidFill>
                  <a:srgbClr val="FFFF00"/>
                </a:solidFill>
              </a:rPr>
              <a:t>GitHub for prototype sharing</a:t>
            </a:r>
          </a:p>
          <a:p>
            <a:r>
              <a:rPr lang="en-IN" b="1" dirty="0"/>
              <a:t>Optional Extras:</a:t>
            </a:r>
            <a:r>
              <a:rPr lang="en-IN" dirty="0"/>
              <a:t> </a:t>
            </a:r>
            <a:r>
              <a:rPr lang="en-IN" dirty="0">
                <a:solidFill>
                  <a:srgbClr val="FFFF00"/>
                </a:solidFill>
              </a:rPr>
              <a:t>Flask / </a:t>
            </a:r>
            <a:r>
              <a:rPr lang="en-IN" dirty="0" err="1">
                <a:solidFill>
                  <a:srgbClr val="FFFF00"/>
                </a:solidFill>
              </a:rPr>
              <a:t>FastAPI</a:t>
            </a:r>
            <a:r>
              <a:rPr lang="en-IN" dirty="0">
                <a:solidFill>
                  <a:srgbClr val="FFFF00"/>
                </a:solidFill>
              </a:rPr>
              <a:t> for web integration, SQLite for lightweight local DB.</a:t>
            </a:r>
          </a:p>
          <a:p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C451366-6D04-F0DF-C1B5-7643029FDD31}"/>
              </a:ext>
            </a:extLst>
          </p:cNvPr>
          <p:cNvGrpSpPr/>
          <p:nvPr/>
        </p:nvGrpSpPr>
        <p:grpSpPr>
          <a:xfrm>
            <a:off x="10324845" y="609600"/>
            <a:ext cx="2344038" cy="2010995"/>
            <a:chOff x="4652556" y="3173534"/>
            <a:chExt cx="4340511" cy="453753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CF37A87-171A-1B22-A7C6-DCFA84944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52556" y="3173534"/>
              <a:ext cx="2600639" cy="175993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70B340F-B769-906C-3DC5-E1776FDFFBA1}"/>
                </a:ext>
              </a:extLst>
            </p:cNvPr>
            <p:cNvSpPr txBox="1"/>
            <p:nvPr/>
          </p:nvSpPr>
          <p:spPr>
            <a:xfrm>
              <a:off x="5513322" y="6808279"/>
              <a:ext cx="3479745" cy="9027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IN" sz="2000" b="1" dirty="0">
                <a:latin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492789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164</TotalTime>
  <Words>560</Words>
  <Application>Microsoft Office PowerPoint</Application>
  <PresentationFormat>Widescreen</PresentationFormat>
  <Paragraphs>68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Trebuchet MS</vt:lpstr>
      <vt:lpstr>Wingdings 3</vt:lpstr>
      <vt:lpstr>Facet</vt:lpstr>
      <vt:lpstr>SHRI VAISHNAV VIDYAPEETH VISHWAVIDYALAYA</vt:lpstr>
      <vt:lpstr>We welcome you all to the shortlisting round.</vt:lpstr>
      <vt:lpstr>Team name: Four4kind </vt:lpstr>
      <vt:lpstr>Solution &amp; Innovation: </vt:lpstr>
      <vt:lpstr>Solution Use Cases:</vt:lpstr>
      <vt:lpstr>Technology Stack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SHRI VAISHNAV VIDYAPEETH VISHWAVIDYALAYA</dc:title>
  <dc:creator>Windows User</dc:creator>
  <cp:lastModifiedBy>rajeshwari vyas</cp:lastModifiedBy>
  <cp:revision>6</cp:revision>
  <dcterms:created xsi:type="dcterms:W3CDTF">2024-09-21T09:44:18Z</dcterms:created>
  <dcterms:modified xsi:type="dcterms:W3CDTF">2025-11-10T10:05:00Z</dcterms:modified>
</cp:coreProperties>
</file>